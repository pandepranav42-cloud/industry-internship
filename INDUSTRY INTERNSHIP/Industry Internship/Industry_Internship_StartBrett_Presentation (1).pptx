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 consumption only</c:v>
                </c:pt>
              </c:strCache>
            </c:strRef>
          </c:tx>
          <c:spPr>
            <a:solidFill>
              <a:srgbClr val="0066F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1B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Linear Regression</c:v>
                </c:pt>
                <c:pt idx="2">
                  <c:v>Polynomial (NLR)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17.88</c:v>
                </c:pt>
                <c:pt idx="1">
                  <c:v>3.67</c:v>
                </c:pt>
                <c:pt idx="2">
                  <c:v>3.07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8A-FC4E-A6A3-FD5162BC1B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Consumption + temperature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1B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Linear Regression</c:v>
                </c:pt>
                <c:pt idx="2">
                  <c:v>Polynomial (NLR)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17.88</c:v>
                </c:pt>
                <c:pt idx="1">
                  <c:v>3.67</c:v>
                </c:pt>
                <c:pt idx="2">
                  <c:v>2.87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8A-FC4E-A6A3-FD5162BC1B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B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E6EC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80"/>
                    </a:solidFill>
                    <a:latin typeface="Calibri"/>
                  </a:defRPr>
                </a:pPr>
                <a:r>
                  <a:rPr lang="en-US" sz="1100" b="0" i="0" u="none" strike="noStrike">
                    <a:solidFill>
                      <a:srgbClr val="5A6B80"/>
                    </a:solidFill>
                    <a:latin typeface="Calibri"/>
                  </a:rPr>
                  <a:t>Overall RMSE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A6B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5023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This presentation covers my industry internship at StartBrett Private Limited, Pune — a responsive corporate website and a machine-learning based energy demand prediction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deck follows the structure of the internship report: introduction, objectives, literature survey, methodology, design, results and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internship combined web engineering with applied machine learning, and gave exposure to professional software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StartBrett is an industrial automation firm in Pune. Two deliverables were assigned: the corporate website and the energy demand prediction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goals summarise the fifteen objectives listed in the report: industrial exposure, web delivery, SDLC understanding, applied ML, data skills and professional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one concerns digital presence; problem two concerns accurate but explainable demand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Forecasting has moved from statistical models to deep learning. The reference paper argues that for industry, interpretable models are often preferable.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parallel sets of limitations motivated the internship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SWOT frames why interpretable regression was chosen and what risks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projects followed the same five-stage methodology, with track-specific implementation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mirrors the framework of Kamoona et al.: concatenate, window, train, forecast, evaluate with RMSE.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deliberately lightweight, industry-standard stack: vanilla web technologies for the site and the Python data-science stack for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UML/database artefacts were produced: the ER diagram, the class and object diagram, and level 0/1 data flow 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flow diagram shows the level 1 decomposition: the website path from page view to enquiry storage, and the prediction path from data collection to stored forecasts.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delivered site is responsive, SEO-ready and presents the company's four service lines with a clear enquiry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ML predictors beat the market baseline by a wide margin; the polynomial model with temperature is the best performer at 2.87% RMSE.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result: an 84 percent reduction in error against the baseline, achieved with a model that remains fully interpretable.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2, which respects the continuity of the time series, outperformed Model 1 across every time-window setting and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Geo-tagged photographs captured on site at the StartBrett office in Kasarwadi, documenting attendance and the work carried out on the corporate website.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the two deliverables, the internship built technical, analytical and professional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both projects met their objectives, a simple interpretable model outperformed the industry baseline, and academic theory was successfully applied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primary sources; the reference paper by Kamoona et al. provided the framework reproduced in this internship.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— happy to take questions on either the website or the forecasting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11.png"/><Relationship Id="rId4" Type="http://schemas.openxmlformats.org/officeDocument/2006/relationships/image" Target="../media/image3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jpg"/><Relationship Id="rId4" Type="http://schemas.openxmlformats.org/officeDocument/2006/relationships/image" Target="../media/image5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dypiu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328" y="475488"/>
            <a:ext cx="6035040" cy="9326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517904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29, Pradhikaran, Akurdi, Pune – Maharashtra, INDIA 411044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914400" y="1773936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(Establishment by Maharashtra Act No. LXIII of 2017)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914400" y="2048256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Science, Engineering &amp; Applications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234440" y="2697480"/>
            <a:ext cx="9722815" cy="2057400"/>
          </a:xfrm>
          <a:prstGeom prst="roundRect">
            <a:avLst>
              <a:gd name="adj" fmla="val 6222"/>
            </a:avLst>
          </a:prstGeom>
          <a:solidFill>
            <a:srgbClr val="EEF3FA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2907792"/>
            <a:ext cx="9265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4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INTERNSHIP 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63040" y="3218688"/>
            <a:ext cx="9265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Web Development &amp; Machine Learning based</a:t>
            </a:r>
            <a:endParaRPr lang="en-US" sz="27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Demand Prediction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463040" y="4224528"/>
            <a:ext cx="9265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StartBrett Private Limited  ·  Industrial Automation  ·  Pune, Maharashtra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234440" y="4983480"/>
            <a:ext cx="4754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508760" y="5120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508760" y="5394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Ashok Pande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508760" y="57058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 20240802208  ·  B.Tech. Computer Science and Engineering (AI–ML)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0488" y="4983480"/>
            <a:ext cx="4754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64808" y="5120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INTERNSHIP IN-CHARGE (DIVISION WISE)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64808" y="5394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Dipika Pradhan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64808" y="57058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Rohini Tarade  ·  Industry Mentor: Mr. Sachin </a:t>
            </a:r>
            <a:r>
              <a:rPr lang="en-US" sz="1100" dirty="0" err="1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Bindge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 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this internship presentation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" y="178308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EEF3FA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03911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18541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76856" y="20025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3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3172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objectives and problem statement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74136" y="178308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EEF3FA"/>
          </a:solidFill>
          <a:ln/>
        </p:spPr>
      </p:sp>
      <p:sp>
        <p:nvSpPr>
          <p:cNvPr id="12" name="Shape 9"/>
          <p:cNvSpPr/>
          <p:nvPr/>
        </p:nvSpPr>
        <p:spPr>
          <a:xfrm>
            <a:off x="3630168" y="203911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1854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57216" y="20025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3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630168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30168" y="3172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systems, drawbacks and gaps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54496" y="178308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EEF3FA"/>
          </a:solidFill>
          <a:ln/>
        </p:spPr>
      </p:sp>
      <p:sp>
        <p:nvSpPr>
          <p:cNvPr id="18" name="Shape 14"/>
          <p:cNvSpPr/>
          <p:nvPr/>
        </p:nvSpPr>
        <p:spPr>
          <a:xfrm>
            <a:off x="6510528" y="203911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18541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37576" y="20025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3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510528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510528" y="3172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ML pipeline and tools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134856" y="178308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EEF3FA"/>
          </a:solidFill>
          <a:ln/>
        </p:spPr>
      </p:sp>
      <p:sp>
        <p:nvSpPr>
          <p:cNvPr id="24" name="Shape 19"/>
          <p:cNvSpPr/>
          <p:nvPr/>
        </p:nvSpPr>
        <p:spPr>
          <a:xfrm>
            <a:off x="9390888" y="203911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2" y="218541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17936" y="20025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3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9390888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Design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390888" y="3172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ER, class/object and flow diagrams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93776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EEF3FA"/>
          </a:solidFill>
          <a:ln/>
        </p:spPr>
      </p:sp>
      <p:sp>
        <p:nvSpPr>
          <p:cNvPr id="30" name="Shape 24"/>
          <p:cNvSpPr/>
          <p:nvPr/>
        </p:nvSpPr>
        <p:spPr>
          <a:xfrm>
            <a:off x="749808" y="418795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4334256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276856" y="41513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3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26"/>
          <p:cNvSpPr/>
          <p:nvPr/>
        </p:nvSpPr>
        <p:spPr>
          <a:xfrm>
            <a:off x="749808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and Discussions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749808" y="53218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outcome and RMSE evaluation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3374136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EEF3FA"/>
          </a:solidFill>
          <a:ln/>
        </p:spPr>
      </p:sp>
      <p:sp>
        <p:nvSpPr>
          <p:cNvPr id="36" name="Shape 29"/>
          <p:cNvSpPr/>
          <p:nvPr/>
        </p:nvSpPr>
        <p:spPr>
          <a:xfrm>
            <a:off x="3630168" y="418795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6472" y="4334256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157216" y="41513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3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9" name="Text 31"/>
          <p:cNvSpPr/>
          <p:nvPr/>
        </p:nvSpPr>
        <p:spPr>
          <a:xfrm>
            <a:off x="3630168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Geo-tagged Field Photos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3630168" y="53218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documentation of the internship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6254496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EEF3FA"/>
          </a:solidFill>
          <a:ln/>
        </p:spPr>
      </p:sp>
      <p:sp>
        <p:nvSpPr>
          <p:cNvPr id="42" name="Shape 34"/>
          <p:cNvSpPr/>
          <p:nvPr/>
        </p:nvSpPr>
        <p:spPr>
          <a:xfrm>
            <a:off x="6510528" y="418795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4334256"/>
            <a:ext cx="237744" cy="23774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037576" y="41513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3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45" name="Text 36"/>
          <p:cNvSpPr/>
          <p:nvPr/>
        </p:nvSpPr>
        <p:spPr>
          <a:xfrm>
            <a:off x="6510528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46" name="Text 37"/>
          <p:cNvSpPr/>
          <p:nvPr/>
        </p:nvSpPr>
        <p:spPr>
          <a:xfrm>
            <a:off x="6510528" y="53218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learning and future work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9134856" y="39319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EEF3FA"/>
          </a:solidFill>
          <a:ln/>
        </p:spPr>
      </p:sp>
      <p:sp>
        <p:nvSpPr>
          <p:cNvPr id="48" name="Shape 39"/>
          <p:cNvSpPr/>
          <p:nvPr/>
        </p:nvSpPr>
        <p:spPr>
          <a:xfrm>
            <a:off x="9390888" y="418795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7192" y="4334256"/>
            <a:ext cx="237744" cy="237744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10917936" y="41513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3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51" name="Text 41"/>
          <p:cNvSpPr/>
          <p:nvPr/>
        </p:nvSpPr>
        <p:spPr>
          <a:xfrm>
            <a:off x="9390888" y="4846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52" name="Text 42"/>
          <p:cNvSpPr/>
          <p:nvPr/>
        </p:nvSpPr>
        <p:spPr>
          <a:xfrm>
            <a:off x="9390888" y="53218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and sources consulted</a:t>
            </a:r>
            <a:endParaRPr lang="en-US" sz="1050" dirty="0"/>
          </a:p>
        </p:txBody>
      </p:sp>
      <p:sp>
        <p:nvSpPr>
          <p:cNvPr id="53" name="Text 43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54" name="Text 44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classroom theory and industrial practice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internship is the bridge between academic study and professional engineering practice. It converts classroom concepts into working systems and exposes a student to real deadlines, real users and real constraints.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this internship at StartBrett Private Limited I worked across two complementary domains — front-end web engineering and applied machine learning — following the complete software development life cycle from requirement gathering to testing and deployment.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397764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EEF3F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27939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736" y="4224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16736" y="4526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exposure builds not only technical skill, but documentation discipline, teamwork and time management.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0" y="1783080"/>
            <a:ext cx="52120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066544"/>
            <a:ext cx="548640" cy="54864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221284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1984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360920" y="2286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SEO-optimised corporate website built with HTML5, CSS3 and JavaScript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0" y="3081528"/>
            <a:ext cx="52120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675120" y="3364992"/>
            <a:ext cx="548640" cy="54864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4" y="351129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60920" y="3282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360920" y="35844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demand prediction using interpretable Linear &amp; Polynomial regression models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400800" y="4379976"/>
            <a:ext cx="52120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75120" y="4663440"/>
            <a:ext cx="548640" cy="54864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480974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4581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Practice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360920" y="48828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documentation, code review, testing and team communication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Host Organisation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StartBrett Private Limited — industrial automation engineering, Pune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0B1B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2140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2633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StartBrett Private Limited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50976" y="303580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industrial automation company delivering PLC programming, SCADA systems, control-panel manufacturing and instrumentation for turnkey projects across India.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078224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40233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Chakan Industrial Area, Pune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60857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45537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· SCADA · Instrumentation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513892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50840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Mr. Sachin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Bindge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5870448" y="1783080"/>
            <a:ext cx="5742432" cy="1965960"/>
          </a:xfrm>
          <a:prstGeom prst="roundRect">
            <a:avLst>
              <a:gd name="adj" fmla="val 5581"/>
            </a:avLst>
          </a:prstGeom>
          <a:solidFill>
            <a:srgbClr val="EEF3FA"/>
          </a:solidFill>
          <a:ln/>
        </p:spPr>
      </p:sp>
      <p:sp>
        <p:nvSpPr>
          <p:cNvPr id="16" name="Shape 10"/>
          <p:cNvSpPr/>
          <p:nvPr/>
        </p:nvSpPr>
        <p:spPr>
          <a:xfrm>
            <a:off x="6199632" y="20939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224942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31152" y="20939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6931152" y="23134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Website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199632" y="27523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responsive, accessible and search-optimised digital storefront that presents the company's automation services and captures customer enquiries.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199632" y="3319272"/>
            <a:ext cx="1609344" cy="292608"/>
          </a:xfrm>
          <a:prstGeom prst="roundRect">
            <a:avLst>
              <a:gd name="adj" fmla="val 18750"/>
            </a:avLst>
          </a:prstGeom>
          <a:solidFill>
            <a:srgbClr val="DCE7F5"/>
          </a:solidFill>
          <a:ln/>
        </p:spPr>
      </p:sp>
      <p:sp>
        <p:nvSpPr>
          <p:cNvPr id="22" name="Text 15"/>
          <p:cNvSpPr/>
          <p:nvPr/>
        </p:nvSpPr>
        <p:spPr>
          <a:xfrm>
            <a:off x="6199632" y="33192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</a:t>
            </a:r>
            <a:endParaRPr lang="en-US" sz="880" dirty="0"/>
          </a:p>
        </p:txBody>
      </p:sp>
      <p:sp>
        <p:nvSpPr>
          <p:cNvPr id="23" name="Shape 16"/>
          <p:cNvSpPr/>
          <p:nvPr/>
        </p:nvSpPr>
        <p:spPr>
          <a:xfrm>
            <a:off x="7900416" y="3319272"/>
            <a:ext cx="1609344" cy="292608"/>
          </a:xfrm>
          <a:prstGeom prst="roundRect">
            <a:avLst>
              <a:gd name="adj" fmla="val 18750"/>
            </a:avLst>
          </a:prstGeom>
          <a:solidFill>
            <a:srgbClr val="DCE7F5"/>
          </a:solidFill>
          <a:ln/>
        </p:spPr>
      </p:sp>
      <p:sp>
        <p:nvSpPr>
          <p:cNvPr id="24" name="Text 17"/>
          <p:cNvSpPr/>
          <p:nvPr/>
        </p:nvSpPr>
        <p:spPr>
          <a:xfrm>
            <a:off x="7900416" y="33192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across all devices</a:t>
            </a:r>
            <a:endParaRPr lang="en-US" sz="880" dirty="0"/>
          </a:p>
        </p:txBody>
      </p:sp>
      <p:sp>
        <p:nvSpPr>
          <p:cNvPr id="25" name="Shape 18"/>
          <p:cNvSpPr/>
          <p:nvPr/>
        </p:nvSpPr>
        <p:spPr>
          <a:xfrm>
            <a:off x="9601200" y="3319272"/>
            <a:ext cx="1609344" cy="292608"/>
          </a:xfrm>
          <a:prstGeom prst="roundRect">
            <a:avLst>
              <a:gd name="adj" fmla="val 18750"/>
            </a:avLst>
          </a:prstGeom>
          <a:solidFill>
            <a:srgbClr val="DCE7F5"/>
          </a:solidFill>
          <a:ln/>
        </p:spPr>
      </p:sp>
      <p:sp>
        <p:nvSpPr>
          <p:cNvPr id="26" name="Text 19"/>
          <p:cNvSpPr/>
          <p:nvPr/>
        </p:nvSpPr>
        <p:spPr>
          <a:xfrm>
            <a:off x="9601200" y="33192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performance tuned</a:t>
            </a:r>
            <a:endParaRPr lang="en-US" sz="880" dirty="0"/>
          </a:p>
        </p:txBody>
      </p:sp>
      <p:sp>
        <p:nvSpPr>
          <p:cNvPr id="27" name="Shape 20"/>
          <p:cNvSpPr/>
          <p:nvPr/>
        </p:nvSpPr>
        <p:spPr>
          <a:xfrm>
            <a:off x="5870448" y="3931920"/>
            <a:ext cx="5742432" cy="1965960"/>
          </a:xfrm>
          <a:prstGeom prst="roundRect">
            <a:avLst>
              <a:gd name="adj" fmla="val 5581"/>
            </a:avLst>
          </a:prstGeom>
          <a:solidFill>
            <a:srgbClr val="EEF3FA"/>
          </a:solidFill>
          <a:ln/>
        </p:spPr>
      </p:sp>
      <p:sp>
        <p:nvSpPr>
          <p:cNvPr id="28" name="Shape 21"/>
          <p:cNvSpPr/>
          <p:nvPr/>
        </p:nvSpPr>
        <p:spPr>
          <a:xfrm>
            <a:off x="6199632" y="42428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398264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31152" y="4242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6931152" y="44622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Demand Prediction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6199632" y="490118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interpretable machine-learning framework that forecasts electricity demand from historical consumption and weather data.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199632" y="5468112"/>
            <a:ext cx="1609344" cy="292608"/>
          </a:xfrm>
          <a:prstGeom prst="roundRect">
            <a:avLst>
              <a:gd name="adj" fmla="val 18750"/>
            </a:avLst>
          </a:prstGeom>
          <a:solidFill>
            <a:srgbClr val="DCE7F5"/>
          </a:solidFill>
          <a:ln/>
        </p:spPr>
      </p:sp>
      <p:sp>
        <p:nvSpPr>
          <p:cNvPr id="34" name="Text 26"/>
          <p:cNvSpPr/>
          <p:nvPr/>
        </p:nvSpPr>
        <p:spPr>
          <a:xfrm>
            <a:off x="6199632" y="546811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Polynomial regression</a:t>
            </a:r>
            <a:endParaRPr lang="en-US" sz="880" dirty="0"/>
          </a:p>
        </p:txBody>
      </p:sp>
      <p:sp>
        <p:nvSpPr>
          <p:cNvPr id="35" name="Shape 27"/>
          <p:cNvSpPr/>
          <p:nvPr/>
        </p:nvSpPr>
        <p:spPr>
          <a:xfrm>
            <a:off x="7900416" y="5468112"/>
            <a:ext cx="1609344" cy="292608"/>
          </a:xfrm>
          <a:prstGeom prst="roundRect">
            <a:avLst>
              <a:gd name="adj" fmla="val 18750"/>
            </a:avLst>
          </a:prstGeom>
          <a:solidFill>
            <a:srgbClr val="DCE7F5"/>
          </a:solidFill>
          <a:ln/>
        </p:spPr>
      </p:sp>
      <p:sp>
        <p:nvSpPr>
          <p:cNvPr id="36" name="Text 28"/>
          <p:cNvSpPr/>
          <p:nvPr/>
        </p:nvSpPr>
        <p:spPr>
          <a:xfrm>
            <a:off x="7900416" y="546811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Pandas</a:t>
            </a:r>
            <a:endParaRPr lang="en-US" sz="880" dirty="0"/>
          </a:p>
        </p:txBody>
      </p:sp>
      <p:sp>
        <p:nvSpPr>
          <p:cNvPr id="37" name="Shape 29"/>
          <p:cNvSpPr/>
          <p:nvPr/>
        </p:nvSpPr>
        <p:spPr>
          <a:xfrm>
            <a:off x="9601200" y="5468112"/>
            <a:ext cx="1609344" cy="292608"/>
          </a:xfrm>
          <a:prstGeom prst="roundRect">
            <a:avLst>
              <a:gd name="adj" fmla="val 18750"/>
            </a:avLst>
          </a:prstGeom>
          <a:solidFill>
            <a:srgbClr val="DCE7F5"/>
          </a:solidFill>
          <a:ln/>
        </p:spPr>
      </p:sp>
      <p:sp>
        <p:nvSpPr>
          <p:cNvPr id="38" name="Text 30"/>
          <p:cNvSpPr/>
          <p:nvPr/>
        </p:nvSpPr>
        <p:spPr>
          <a:xfrm>
            <a:off x="9601200" y="546811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using RMSE</a:t>
            </a:r>
            <a:endParaRPr lang="en-US" sz="880" dirty="0"/>
          </a:p>
        </p:txBody>
      </p:sp>
      <p:sp>
        <p:nvSpPr>
          <p:cNvPr id="39" name="Text 31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report objectives distilled into six measurable goals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057400"/>
            <a:ext cx="548640" cy="54864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037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27157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industrial exposure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59536" y="30449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professional workflow, organisational structure and industry standards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1688" y="17830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4296" y="2057400"/>
            <a:ext cx="548640" cy="54864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0370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27157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 website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54296" y="30449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responsive, interactive and SEO-friendly corporate platform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56448" y="17830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49056" y="2057400"/>
            <a:ext cx="548640" cy="54864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20370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49056" y="27157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full SDLC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49056" y="30449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gathering, design, development, testing, deployment and maintenance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66928" y="38404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59536" y="4114800"/>
            <a:ext cx="548640" cy="54864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26110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9536" y="47731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applied ML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59536" y="51023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interpretable predictive models for real energy-demand forecasting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61688" y="38404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54296" y="4114800"/>
            <a:ext cx="548640" cy="54864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26110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54296" y="47731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data skills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54296" y="51023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clean, preprocess and analyse time-series and weather datasets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56448" y="38404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49056" y="4114800"/>
            <a:ext cx="548640" cy="54864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426110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49056" y="47731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professional skills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449056" y="51023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Teamwork, communication, documentation discipline and time management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problems were identified during the internship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EEF3FA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08483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494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82496" y="21214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01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682496" y="2340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digital presence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50976" y="2971800"/>
            <a:ext cx="46634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responsive, modern platform to present automation services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content with poor navigation and slow load performance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search visibility, so prospective clients cannot find the firm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channel for capturing customer enquiries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90488" y="178308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4E0"/>
          </a:solidFill>
          <a:ln/>
        </p:spPr>
      </p:sp>
      <p:sp>
        <p:nvSpPr>
          <p:cNvPr id="12" name="Shape 9"/>
          <p:cNvSpPr/>
          <p:nvPr/>
        </p:nvSpPr>
        <p:spPr>
          <a:xfrm>
            <a:off x="6556248" y="208483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24942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06056" y="21214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" dirty="0">
                <a:solidFill>
                  <a:srgbClr val="C7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02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306056" y="2340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Unreliable demand forecasting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574536" y="2971800"/>
            <a:ext cx="46634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fluctuates with weather, season and consumer behaviour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statistical baselines cannot model non-linear demand patterns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models are accurate but opaque and computationally heavy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needs forecasts that are both accurate and explainable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B1B2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3270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35024" y="5349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one modern, responsive web platform and one accurate yet interpretable forecasting model — both validated against measurable criteria.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 SURVEY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energy demand forecasting methods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91640" y="2606040"/>
            <a:ext cx="8778240" cy="0"/>
          </a:xfrm>
          <a:prstGeom prst="line">
            <a:avLst/>
          </a:prstGeom>
          <a:noFill/>
          <a:ln w="25400">
            <a:solidFill>
              <a:srgbClr val="E2EB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194560"/>
            <a:ext cx="822960" cy="822960"/>
          </a:xfrm>
          <a:prstGeom prst="ellipse">
            <a:avLst/>
          </a:prstGeom>
          <a:solidFill>
            <a:srgbClr val="0B1B2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423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0080" y="35112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ARIMA, moving average, exponential smoothing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4114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114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assume linear relationships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51960" y="2194560"/>
            <a:ext cx="822960" cy="822960"/>
          </a:xfrm>
          <a:prstGeom prst="ellipse">
            <a:avLst/>
          </a:prstGeom>
          <a:solidFill>
            <a:srgbClr val="0B1B2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423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429000" y="35112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decision trees, random forests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29000" y="4114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/>
        </p:spPr>
      </p:sp>
      <p:sp>
        <p:nvSpPr>
          <p:cNvPr id="17" name="Text 13"/>
          <p:cNvSpPr/>
          <p:nvPr/>
        </p:nvSpPr>
        <p:spPr>
          <a:xfrm>
            <a:off x="3566160" y="4114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non-linear patterns from features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040880" y="2194560"/>
            <a:ext cx="822960" cy="822960"/>
          </a:xfrm>
          <a:prstGeom prst="ellipse">
            <a:avLst/>
          </a:prstGeom>
          <a:solidFill>
            <a:srgbClr val="0B1B2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4231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217920" y="35112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RNN, LSTM, CNN predictors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17920" y="4114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/>
        </p:spPr>
      </p:sp>
      <p:sp>
        <p:nvSpPr>
          <p:cNvPr id="23" name="Text 18"/>
          <p:cNvSpPr/>
          <p:nvPr/>
        </p:nvSpPr>
        <p:spPr>
          <a:xfrm>
            <a:off x="6355080" y="4114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— but black-box and data hungry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829800" y="2194560"/>
            <a:ext cx="822960" cy="82296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242316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06840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ML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006840" y="35112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polynomial regression (LR / NLR)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006840" y="4114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4E0"/>
          </a:solidFill>
          <a:ln/>
        </p:spPr>
      </p:sp>
      <p:sp>
        <p:nvSpPr>
          <p:cNvPr id="29" name="Text 23"/>
          <p:cNvSpPr/>
          <p:nvPr/>
        </p:nvSpPr>
        <p:spPr>
          <a:xfrm>
            <a:off x="9144000" y="4114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transparent and cheap to deploy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B1B2E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5632704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35024" y="5349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framework: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Kamoona et al. (2023), “Machine learning based energy demand prediction”, Energy Reports 9, 171–176 — combines temperature with historical consumption using simple, interpretable LR and NLR predictors.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 SURVEY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Drawbacks of Existing Systems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current web platforms and forecasting systems fall short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329184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corporate web platforms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demand forecasting systems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Largely static information with no interactive or intelligent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statistical models cannot capture non-linear consumption 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responsiveness — poor experience on tablets and phones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Deep-learning predictors need large datasets and heavy computation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Unoptimised assets cause slow page loads and higher bounce rates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behaviour makes results hard to explain to decision makers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SEO implementation limits organic reach and visibility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missing, noisy or inconsistently collected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maintenance needed for security and browser compatibility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generalisation — frequent retraining for new regions or 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B1B2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32704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5024" y="5349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needs a platform that is responsive, fast and discoverable — and a forecasting model that is accurate without becoming a black box.</a:t>
            </a:r>
            <a:endParaRPr lang="en-US" sz="1300" dirty="0"/>
          </a:p>
        </p:txBody>
      </p:sp>
      <p:sp>
        <p:nvSpPr>
          <p:cNvPr id="5" name="Text 5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 SURVEY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Identified — SWOT of the Proposed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assessment of the solution adopted during the internship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0B1B2E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947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499616" y="20574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05740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2569464"/>
            <a:ext cx="4754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models — no black-box behaviour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compute cost, quick to retrain and deploy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SEO-ready website on standard web stack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0488" y="178308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EEF3FA"/>
          </a:solidFill>
          <a:ln/>
        </p:spPr>
      </p:sp>
      <p:sp>
        <p:nvSpPr>
          <p:cNvPr id="11" name="Text 8"/>
          <p:cNvSpPr/>
          <p:nvPr/>
        </p:nvSpPr>
        <p:spPr>
          <a:xfrm>
            <a:off x="6483096" y="1947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6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123176" y="20574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205740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01384" y="2569464"/>
            <a:ext cx="4754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depends on clean, complete historical data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 cannot capture very long-range dependencies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needs continuous content and security maintenance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6928" y="402336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4E0"/>
          </a:solidFill>
          <a:ln/>
        </p:spPr>
      </p:sp>
      <p:sp>
        <p:nvSpPr>
          <p:cNvPr id="16" name="Text 12"/>
          <p:cNvSpPr/>
          <p:nvPr/>
        </p:nvSpPr>
        <p:spPr>
          <a:xfrm>
            <a:off x="859536" y="41879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7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1499616" y="42976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6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429768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7824" y="4809744"/>
            <a:ext cx="4754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features with humidity, pressure and solar radiation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analytics and enquiry intelligence into the site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framework to any time-series prediction problem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90488" y="402336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EEF3FA"/>
          </a:solidFill>
          <a:ln/>
        </p:spPr>
      </p:sp>
      <p:sp>
        <p:nvSpPr>
          <p:cNvPr id="21" name="Text 16"/>
          <p:cNvSpPr/>
          <p:nvPr/>
        </p:nvSpPr>
        <p:spPr>
          <a:xfrm>
            <a:off x="6483096" y="41879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6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400" dirty="0"/>
          </a:p>
        </p:txBody>
      </p:sp>
      <p:sp>
        <p:nvSpPr>
          <p:cNvPr id="22" name="Text 17"/>
          <p:cNvSpPr/>
          <p:nvPr/>
        </p:nvSpPr>
        <p:spPr>
          <a:xfrm>
            <a:off x="7123176" y="42976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6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4297680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01384" y="4809744"/>
            <a:ext cx="4754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consumption patterns degrade model accuracy over time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Cyber-security exposure and browser compatibility drift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for search ranking and online visibility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PROPOSED 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systematic workflow applied to both deliverables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" y="1783080"/>
            <a:ext cx="1947672" cy="1691640"/>
          </a:xfrm>
          <a:prstGeom prst="roundRect">
            <a:avLst>
              <a:gd name="adj" fmla="val 5405"/>
            </a:avLst>
          </a:prstGeom>
          <a:solidFill>
            <a:srgbClr val="EEF3FA"/>
          </a:solidFill>
          <a:ln/>
        </p:spPr>
      </p:sp>
      <p:sp>
        <p:nvSpPr>
          <p:cNvPr id="6" name="Shape 4"/>
          <p:cNvSpPr/>
          <p:nvPr/>
        </p:nvSpPr>
        <p:spPr>
          <a:xfrm>
            <a:off x="1271016" y="1965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21214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2615184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4944" y="3072384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users, functional needs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 rot="5400000">
            <a:off x="2633472" y="2542032"/>
            <a:ext cx="182880" cy="219456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11" name="Shape 8"/>
          <p:cNvSpPr/>
          <p:nvPr/>
        </p:nvSpPr>
        <p:spPr>
          <a:xfrm>
            <a:off x="2852928" y="1783080"/>
            <a:ext cx="1947672" cy="1691640"/>
          </a:xfrm>
          <a:prstGeom prst="roundRect">
            <a:avLst>
              <a:gd name="adj" fmla="val 5405"/>
            </a:avLst>
          </a:prstGeom>
          <a:solidFill>
            <a:srgbClr val="EEF3FA"/>
          </a:solidFill>
          <a:ln/>
        </p:spPr>
      </p:sp>
      <p:sp>
        <p:nvSpPr>
          <p:cNvPr id="12" name="Shape 9"/>
          <p:cNvSpPr/>
          <p:nvPr/>
        </p:nvSpPr>
        <p:spPr>
          <a:xfrm>
            <a:off x="3538728" y="1965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212140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62656" y="2615184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Architecture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62656" y="3072384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Layouts, data model, pipeline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 rot="5400000">
            <a:off x="4901184" y="2542032"/>
            <a:ext cx="182880" cy="219456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17" name="Shape 13"/>
          <p:cNvSpPr/>
          <p:nvPr/>
        </p:nvSpPr>
        <p:spPr>
          <a:xfrm>
            <a:off x="5120640" y="1783080"/>
            <a:ext cx="1947672" cy="1691640"/>
          </a:xfrm>
          <a:prstGeom prst="roundRect">
            <a:avLst>
              <a:gd name="adj" fmla="val 5405"/>
            </a:avLst>
          </a:prstGeom>
          <a:solidFill>
            <a:srgbClr val="EEF3FA"/>
          </a:solidFill>
          <a:ln/>
        </p:spPr>
      </p:sp>
      <p:sp>
        <p:nvSpPr>
          <p:cNvPr id="18" name="Shape 14"/>
          <p:cNvSpPr/>
          <p:nvPr/>
        </p:nvSpPr>
        <p:spPr>
          <a:xfrm>
            <a:off x="5806440" y="1965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21214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30368" y="2615184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230368" y="3072384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iterate, version control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 rot="5400000">
            <a:off x="7168896" y="2542032"/>
            <a:ext cx="182880" cy="219456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23" name="Shape 18"/>
          <p:cNvSpPr/>
          <p:nvPr/>
        </p:nvSpPr>
        <p:spPr>
          <a:xfrm>
            <a:off x="7388352" y="1783080"/>
            <a:ext cx="1947672" cy="1691640"/>
          </a:xfrm>
          <a:prstGeom prst="roundRect">
            <a:avLst>
              <a:gd name="adj" fmla="val 5405"/>
            </a:avLst>
          </a:prstGeom>
          <a:solidFill>
            <a:srgbClr val="EEF3FA"/>
          </a:solidFill>
          <a:ln/>
        </p:spPr>
      </p:sp>
      <p:sp>
        <p:nvSpPr>
          <p:cNvPr id="24" name="Shape 19"/>
          <p:cNvSpPr/>
          <p:nvPr/>
        </p:nvSpPr>
        <p:spPr>
          <a:xfrm>
            <a:off x="8074152" y="19659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212140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0" y="2615184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498080" y="3072384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Responsiveness, RMSE scoring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 rot="5400000">
            <a:off x="9436608" y="2542032"/>
            <a:ext cx="182880" cy="219456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29" name="Shape 23"/>
          <p:cNvSpPr/>
          <p:nvPr/>
        </p:nvSpPr>
        <p:spPr>
          <a:xfrm>
            <a:off x="9656064" y="1783080"/>
            <a:ext cx="1947672" cy="1691640"/>
          </a:xfrm>
          <a:prstGeom prst="roundRect">
            <a:avLst>
              <a:gd name="adj" fmla="val 5405"/>
            </a:avLst>
          </a:prstGeom>
          <a:solidFill>
            <a:srgbClr val="0B1B2E"/>
          </a:solidFill>
          <a:ln/>
        </p:spPr>
      </p:sp>
      <p:sp>
        <p:nvSpPr>
          <p:cNvPr id="30" name="Shape 24"/>
          <p:cNvSpPr/>
          <p:nvPr/>
        </p:nvSpPr>
        <p:spPr>
          <a:xfrm>
            <a:off x="10341864" y="1965960"/>
            <a:ext cx="566928" cy="56692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7312" y="2121408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765792" y="2615184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Review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9765792" y="3072384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Publish, document, maintain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66928" y="38862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96112" y="4160520"/>
            <a:ext cx="530352" cy="530352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844" y="4302252"/>
            <a:ext cx="246888" cy="2468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536192" y="42245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Corporate website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914400" y="4828032"/>
            <a:ext cx="4718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HTML5, CSS3 and JavaScript. Semantic markup, mobile-first responsive layouts, optimised assets and structured metadata for search visibility. Verified across desktop, tablet and mobile viewports.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6190488" y="38862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519672" y="4160520"/>
            <a:ext cx="530352" cy="530352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1404" y="4302252"/>
            <a:ext cx="246888" cy="24688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159752" y="42245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— Energy demand prediction</a:t>
            </a:r>
            <a:endParaRPr lang="en-US" sz="1450" dirty="0"/>
          </a:p>
        </p:txBody>
      </p:sp>
      <p:sp>
        <p:nvSpPr>
          <p:cNvPr id="43" name="Text 34"/>
          <p:cNvSpPr/>
          <p:nvPr/>
        </p:nvSpPr>
        <p:spPr>
          <a:xfrm>
            <a:off x="6537960" y="4828032"/>
            <a:ext cx="4718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consumption concatenated with ambient temperature, split into time windows (TW) to form (X, Y) batches, then trained with Linear and Polynomial regression and scored using RMSE on held-out data.</a:t>
            </a:r>
            <a:endParaRPr lang="en-US" sz="1150" dirty="0"/>
          </a:p>
        </p:txBody>
      </p:sp>
      <p:sp>
        <p:nvSpPr>
          <p:cNvPr id="44" name="Text 35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PROPOSED 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meter readings to an evaluated forecast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943600" cy="786384"/>
          </a:xfrm>
          <a:prstGeom prst="roundRect">
            <a:avLst>
              <a:gd name="adj" fmla="val 9302"/>
            </a:avLst>
          </a:prstGeom>
          <a:solidFill>
            <a:srgbClr val="EEF3FA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9659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3312" y="18928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concatenation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53312" y="2167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energy demand joined with ambient temperature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rot="10800000">
            <a:off x="932688" y="2606040"/>
            <a:ext cx="128016" cy="91440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2697480"/>
            <a:ext cx="5943600" cy="786384"/>
          </a:xfrm>
          <a:prstGeom prst="roundRect">
            <a:avLst>
              <a:gd name="adj" fmla="val 9302"/>
            </a:avLst>
          </a:prstGeom>
          <a:solidFill>
            <a:srgbClr val="EEF3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" y="2880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53312" y="2807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53312" y="30815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normalisation and time-window (TW) batching into (X, Y)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rot="10800000">
            <a:off x="932688" y="3520440"/>
            <a:ext cx="128016" cy="91440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611880"/>
            <a:ext cx="5943600" cy="786384"/>
          </a:xfrm>
          <a:prstGeom prst="roundRect">
            <a:avLst>
              <a:gd name="adj" fmla="val 9302"/>
            </a:avLst>
          </a:prstGeom>
          <a:solidFill>
            <a:srgbClr val="EEF3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" y="37947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53312" y="3721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53312" y="39959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· temperature · precipitation · solar radiation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10800000">
            <a:off x="932688" y="4434840"/>
            <a:ext cx="128016" cy="91440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4526280"/>
            <a:ext cx="5943600" cy="786384"/>
          </a:xfrm>
          <a:prstGeom prst="roundRect">
            <a:avLst>
              <a:gd name="adj" fmla="val 9302"/>
            </a:avLst>
          </a:prstGeom>
          <a:solidFill>
            <a:srgbClr val="EEF3FA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" y="47091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4709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53312" y="4636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53312" y="49103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(LR) and Polynomial Non-Linear Regression (NLR)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rot="10800000">
            <a:off x="932688" y="5349240"/>
            <a:ext cx="128016" cy="91440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440680"/>
            <a:ext cx="5943600" cy="786384"/>
          </a:xfrm>
          <a:prstGeom prst="roundRect">
            <a:avLst>
              <a:gd name="adj" fmla="val 9302"/>
            </a:avLst>
          </a:prstGeom>
          <a:solidFill>
            <a:srgbClr val="0B1B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" y="5623560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623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53312" y="5550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&amp; evaluation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53312" y="58247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demand scored against actual load using RMSE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66560" y="1783080"/>
            <a:ext cx="48463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22592" y="192938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(LR)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22592" y="2167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 =  a₁x₁ + a₂x₂ + … + b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022592" y="256946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Approximates the relation between load and temperature in a linear fashion.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766560" y="3264408"/>
            <a:ext cx="48463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22592" y="34107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REGRESSION (NLR)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22592" y="36484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 =  a₁x₁² + a₂x₂² + … + b₁x₁ + … + c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022592" y="405079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second-order polynomial that follows the load–temperature relation more closely.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66560" y="4745736"/>
            <a:ext cx="48463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022592" y="4892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22592" y="51297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 =  √ ( Σ (y − ŷ)² / n )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7022592" y="553212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 error — a smaller value indicates a better forecast.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PROPOSED 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used across both deliverables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" y="18288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/>
        </p:spPr>
      </p:sp>
      <p:sp>
        <p:nvSpPr>
          <p:cNvPr id="6" name="Shape 4"/>
          <p:cNvSpPr/>
          <p:nvPr/>
        </p:nvSpPr>
        <p:spPr>
          <a:xfrm>
            <a:off x="1499616" y="206654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21284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" y="2724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30936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page structure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74136" y="18288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/>
        </p:spPr>
      </p:sp>
      <p:sp>
        <p:nvSpPr>
          <p:cNvPr id="11" name="Shape 8"/>
          <p:cNvSpPr/>
          <p:nvPr/>
        </p:nvSpPr>
        <p:spPr>
          <a:xfrm>
            <a:off x="4379976" y="206654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21284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2724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11296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&amp; styling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54496" y="18288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/>
        </p:spPr>
      </p:sp>
      <p:sp>
        <p:nvSpPr>
          <p:cNvPr id="16" name="Shape 12"/>
          <p:cNvSpPr/>
          <p:nvPr/>
        </p:nvSpPr>
        <p:spPr>
          <a:xfrm>
            <a:off x="7260336" y="206654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221284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1656" y="2724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91656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 &amp; behaviour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34856" y="18288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EF3FA"/>
          </a:solidFill>
          <a:ln/>
        </p:spPr>
      </p:sp>
      <p:sp>
        <p:nvSpPr>
          <p:cNvPr id="21" name="Shape 16"/>
          <p:cNvSpPr/>
          <p:nvPr/>
        </p:nvSpPr>
        <p:spPr>
          <a:xfrm>
            <a:off x="10140696" y="206654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221284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2724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2016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development editor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93776" y="37947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499616" y="4032504"/>
            <a:ext cx="548640" cy="54864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0" y="417880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0936" y="4690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630936" y="4983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implementation language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374136" y="37947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379976" y="4032504"/>
            <a:ext cx="548640" cy="54864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4178808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11296" y="4690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3511296" y="4983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computation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254496" y="37947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260336" y="4032504"/>
            <a:ext cx="548640" cy="54864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0" y="4178808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91656" y="4690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6391656" y="4983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and polynomial models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9134856" y="37947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140696" y="4032504"/>
            <a:ext cx="548640" cy="54864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4178808"/>
            <a:ext cx="256032" cy="25603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272016" y="4690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Chrome DevTools</a:t>
            </a:r>
            <a:endParaRPr lang="en-US" sz="1450" dirty="0"/>
          </a:p>
        </p:txBody>
      </p:sp>
      <p:sp>
        <p:nvSpPr>
          <p:cNvPr id="44" name="Text 34"/>
          <p:cNvSpPr/>
          <p:nvPr/>
        </p:nvSpPr>
        <p:spPr>
          <a:xfrm>
            <a:off x="9272016" y="4983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debugging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ANALYSIS AND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and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was modelled before a single line of code was written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084832"/>
            <a:ext cx="914400" cy="384048"/>
          </a:xfrm>
          <a:prstGeom prst="rect">
            <a:avLst/>
          </a:prstGeom>
          <a:solidFill>
            <a:srgbClr val="EEF3FA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98648" y="2084832"/>
            <a:ext cx="914400" cy="384048"/>
          </a:xfrm>
          <a:prstGeom prst="rect">
            <a:avLst/>
          </a:prstGeom>
          <a:solidFill>
            <a:srgbClr val="EEF3FA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92808" y="2770632"/>
            <a:ext cx="914400" cy="384048"/>
          </a:xfrm>
          <a:prstGeom prst="rect">
            <a:avLst/>
          </a:prstGeom>
          <a:solidFill>
            <a:srgbClr val="FFF4E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1368" y="2276856"/>
            <a:ext cx="1097280" cy="0"/>
          </a:xfrm>
          <a:prstGeom prst="line">
            <a:avLst/>
          </a:prstGeom>
          <a:noFill/>
          <a:ln w="12700">
            <a:solidFill>
              <a:srgbClr val="9FB6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0008" y="2276856"/>
            <a:ext cx="0" cy="493776"/>
          </a:xfrm>
          <a:prstGeom prst="line">
            <a:avLst/>
          </a:prstGeom>
          <a:noFill/>
          <a:ln w="12700">
            <a:solidFill>
              <a:srgbClr val="9FB6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3401568"/>
            <a:ext cx="512064" cy="512064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538728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86968" y="40416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86968" y="43525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across both subsystems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86968" y="4754880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· Website · User · Enquiry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· ML Model · Prediction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links carry primary and foreign keys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79976" y="178308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0016" y="2084832"/>
            <a:ext cx="1234440" cy="1069848"/>
          </a:xfrm>
          <a:prstGeom prst="rect">
            <a:avLst/>
          </a:prstGeom>
          <a:solidFill>
            <a:srgbClr val="EEF3FA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0016" y="2432304"/>
            <a:ext cx="123444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0016" y="2779776"/>
            <a:ext cx="123444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91656" y="2084832"/>
            <a:ext cx="1234440" cy="1069848"/>
          </a:xfrm>
          <a:prstGeom prst="rect">
            <a:avLst/>
          </a:prstGeom>
          <a:solidFill>
            <a:srgbClr val="FFF4E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91656" y="2432304"/>
            <a:ext cx="123444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91656" y="2779776"/>
            <a:ext cx="1234440" cy="0"/>
          </a:xfrm>
          <a:prstGeom prst="line">
            <a:avLst/>
          </a:prstGeom>
          <a:noFill/>
          <a:ln w="12700">
            <a:solidFill>
              <a:srgbClr val="FFB02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34456" y="2615184"/>
            <a:ext cx="457200" cy="0"/>
          </a:xfrm>
          <a:prstGeom prst="line">
            <a:avLst/>
          </a:prstGeom>
          <a:noFill/>
          <a:ln w="12700">
            <a:solidFill>
              <a:srgbClr val="9FB6D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0016" y="3401568"/>
            <a:ext cx="512064" cy="512064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3538728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700016" y="40416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Object Diagram</a:t>
            </a:r>
            <a:endParaRPr lang="en-US" sz="1550" dirty="0"/>
          </a:p>
        </p:txBody>
      </p:sp>
      <p:sp>
        <p:nvSpPr>
          <p:cNvPr id="27" name="Text 23"/>
          <p:cNvSpPr/>
          <p:nvPr/>
        </p:nvSpPr>
        <p:spPr>
          <a:xfrm>
            <a:off x="4700016" y="43525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structure of the two modules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700016" y="4754880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module: Company, Website, User, Enquiry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module: HistoricalData, Preprocessing, MLModel, Prediction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such as trainModel(), evaluateModel(), predict()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193024" y="178308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513064" y="2395728"/>
            <a:ext cx="777240" cy="438912"/>
          </a:xfrm>
          <a:prstGeom prst="rect">
            <a:avLst/>
          </a:prstGeom>
          <a:solidFill>
            <a:srgbClr val="EEF3FA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683496" y="2340864"/>
            <a:ext cx="566928" cy="566928"/>
          </a:xfrm>
          <a:prstGeom prst="ellipse">
            <a:avLst/>
          </a:prstGeom>
          <a:solidFill>
            <a:srgbClr val="FFF4E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661904" y="2395728"/>
            <a:ext cx="777240" cy="438912"/>
          </a:xfrm>
          <a:prstGeom prst="rect">
            <a:avLst/>
          </a:prstGeom>
          <a:solidFill>
            <a:srgbClr val="EEF3FA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290304" y="2615184"/>
            <a:ext cx="393192" cy="0"/>
          </a:xfrm>
          <a:prstGeom prst="line">
            <a:avLst/>
          </a:prstGeom>
          <a:noFill/>
          <a:ln w="12700">
            <a:solidFill>
              <a:srgbClr val="9FB6D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0250424" y="2615184"/>
            <a:ext cx="411480" cy="0"/>
          </a:xfrm>
          <a:prstGeom prst="line">
            <a:avLst/>
          </a:prstGeom>
          <a:noFill/>
          <a:ln w="12700">
            <a:solidFill>
              <a:srgbClr val="9FB6D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513064" y="3401568"/>
            <a:ext cx="512064" cy="512064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3538728"/>
            <a:ext cx="237744" cy="23774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513064" y="40416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550" dirty="0"/>
          </a:p>
        </p:txBody>
      </p:sp>
      <p:sp>
        <p:nvSpPr>
          <p:cNvPr id="38" name="Text 33"/>
          <p:cNvSpPr/>
          <p:nvPr/>
        </p:nvSpPr>
        <p:spPr>
          <a:xfrm>
            <a:off x="8513064" y="43525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context and Level 1 decomposition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8513064" y="4754880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0: website system and prediction system as processes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collect → preprocess → train → predict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 for raw, processed, model and prediction data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ANALYSIS AND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data flow decomposition of both subsystems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457200" cy="457200"/>
          </a:xfrm>
          <a:prstGeom prst="ellipse">
            <a:avLst/>
          </a:prstGeom>
          <a:solidFill>
            <a:srgbClr val="0B1B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186080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  Corporate Website System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5216" y="2359152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87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1.1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31520" y="2724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pages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3200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services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 rot="5400000">
            <a:off x="2633472" y="2907792"/>
            <a:ext cx="182880" cy="219456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13" name="Shape 10"/>
          <p:cNvSpPr/>
          <p:nvPr/>
        </p:nvSpPr>
        <p:spPr>
          <a:xfrm>
            <a:off x="2852928" y="2359152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/>
        </p:spPr>
      </p:sp>
      <p:sp>
        <p:nvSpPr>
          <p:cNvPr id="14" name="Text 11"/>
          <p:cNvSpPr/>
          <p:nvPr/>
        </p:nvSpPr>
        <p:spPr>
          <a:xfrm>
            <a:off x="2999232" y="2487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1.2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999232" y="2724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services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999232" y="3200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· SCADA · panels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 rot="5400000">
            <a:off x="4901184" y="2907792"/>
            <a:ext cx="182880" cy="219456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18" name="Shape 15"/>
          <p:cNvSpPr/>
          <p:nvPr/>
        </p:nvSpPr>
        <p:spPr>
          <a:xfrm>
            <a:off x="5120640" y="2359152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/>
        </p:spPr>
      </p:sp>
      <p:sp>
        <p:nvSpPr>
          <p:cNvPr id="19" name="Text 16"/>
          <p:cNvSpPr/>
          <p:nvPr/>
        </p:nvSpPr>
        <p:spPr>
          <a:xfrm>
            <a:off x="5266944" y="2487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1.3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266944" y="2724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enquiry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266944" y="3200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form data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 rot="5400000">
            <a:off x="7168896" y="2907792"/>
            <a:ext cx="182880" cy="219456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23" name="Shape 20"/>
          <p:cNvSpPr/>
          <p:nvPr/>
        </p:nvSpPr>
        <p:spPr>
          <a:xfrm>
            <a:off x="7388352" y="2359152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/>
        </p:spPr>
      </p:sp>
      <p:sp>
        <p:nvSpPr>
          <p:cNvPr id="24" name="Text 21"/>
          <p:cNvSpPr/>
          <p:nvPr/>
        </p:nvSpPr>
        <p:spPr>
          <a:xfrm>
            <a:off x="7534656" y="2487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1.4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534656" y="2724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enquiries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534656" y="3200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 rot="5400000">
            <a:off x="9436608" y="2907792"/>
            <a:ext cx="182880" cy="219456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28" name="Shape 25"/>
          <p:cNvSpPr/>
          <p:nvPr/>
        </p:nvSpPr>
        <p:spPr>
          <a:xfrm>
            <a:off x="9656064" y="2359152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0B1B2E"/>
          </a:solidFill>
          <a:ln/>
        </p:spPr>
      </p:sp>
      <p:sp>
        <p:nvSpPr>
          <p:cNvPr id="29" name="Text 26"/>
          <p:cNvSpPr/>
          <p:nvPr/>
        </p:nvSpPr>
        <p:spPr>
          <a:xfrm>
            <a:off x="9802368" y="2487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9802368" y="2724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Enquiry data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9802368" y="3200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records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66928" y="402336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146804"/>
            <a:ext cx="210312" cy="21031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225296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  Energy Demand Prediction System</a:t>
            </a:r>
            <a:endParaRPr lang="en-US" sz="1500" dirty="0"/>
          </a:p>
        </p:txBody>
      </p:sp>
      <p:sp>
        <p:nvSpPr>
          <p:cNvPr id="35" name="Shape 31"/>
          <p:cNvSpPr/>
          <p:nvPr/>
        </p:nvSpPr>
        <p:spPr>
          <a:xfrm>
            <a:off x="585216" y="4645152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/>
        </p:spPr>
      </p:sp>
      <p:sp>
        <p:nvSpPr>
          <p:cNvPr id="36" name="Text 32"/>
          <p:cNvSpPr/>
          <p:nvPr/>
        </p:nvSpPr>
        <p:spPr>
          <a:xfrm>
            <a:off x="731520" y="4773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2.1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731520" y="5010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731520" y="5486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+ weather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 rot="5400000">
            <a:off x="2633472" y="5193792"/>
            <a:ext cx="182880" cy="219456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40" name="Shape 36"/>
          <p:cNvSpPr/>
          <p:nvPr/>
        </p:nvSpPr>
        <p:spPr>
          <a:xfrm>
            <a:off x="2852928" y="4645152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/>
        </p:spPr>
      </p:sp>
      <p:sp>
        <p:nvSpPr>
          <p:cNvPr id="41" name="Text 37"/>
          <p:cNvSpPr/>
          <p:nvPr/>
        </p:nvSpPr>
        <p:spPr>
          <a:xfrm>
            <a:off x="2999232" y="4773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2.2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2999232" y="5010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data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2999232" y="5486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window (TW)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 rot="5400000">
            <a:off x="4901184" y="5193792"/>
            <a:ext cx="182880" cy="219456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45" name="Shape 41"/>
          <p:cNvSpPr/>
          <p:nvPr/>
        </p:nvSpPr>
        <p:spPr>
          <a:xfrm>
            <a:off x="5120640" y="4645152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/>
        </p:spPr>
      </p:sp>
      <p:sp>
        <p:nvSpPr>
          <p:cNvPr id="46" name="Text 42"/>
          <p:cNvSpPr/>
          <p:nvPr/>
        </p:nvSpPr>
        <p:spPr>
          <a:xfrm>
            <a:off x="5266944" y="4773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2.3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5266944" y="5010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250" dirty="0"/>
          </a:p>
        </p:txBody>
      </p:sp>
      <p:sp>
        <p:nvSpPr>
          <p:cNvPr id="48" name="Text 44"/>
          <p:cNvSpPr/>
          <p:nvPr/>
        </p:nvSpPr>
        <p:spPr>
          <a:xfrm>
            <a:off x="5266944" y="5486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/ NLR fitting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 rot="5400000">
            <a:off x="7168896" y="5193792"/>
            <a:ext cx="182880" cy="219456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50" name="Shape 46"/>
          <p:cNvSpPr/>
          <p:nvPr/>
        </p:nvSpPr>
        <p:spPr>
          <a:xfrm>
            <a:off x="7388352" y="4645152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/>
        </p:spPr>
      </p:sp>
      <p:sp>
        <p:nvSpPr>
          <p:cNvPr id="51" name="Text 47"/>
          <p:cNvSpPr/>
          <p:nvPr/>
        </p:nvSpPr>
        <p:spPr>
          <a:xfrm>
            <a:off x="7534656" y="4773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2.4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7534656" y="5010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demand</a:t>
            </a:r>
            <a:endParaRPr lang="en-US" sz="1250" dirty="0"/>
          </a:p>
        </p:txBody>
      </p:sp>
      <p:sp>
        <p:nvSpPr>
          <p:cNvPr id="53" name="Text 49"/>
          <p:cNvSpPr/>
          <p:nvPr/>
        </p:nvSpPr>
        <p:spPr>
          <a:xfrm>
            <a:off x="7534656" y="5486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 rot="5400000">
            <a:off x="9436608" y="5193792"/>
            <a:ext cx="182880" cy="219456"/>
          </a:xfrm>
          <a:prstGeom prst="triangle">
            <a:avLst/>
          </a:prstGeom>
          <a:solidFill>
            <a:srgbClr val="9FB6D0"/>
          </a:solidFill>
          <a:ln/>
        </p:spPr>
      </p:sp>
      <p:sp>
        <p:nvSpPr>
          <p:cNvPr id="55" name="Shape 51"/>
          <p:cNvSpPr/>
          <p:nvPr/>
        </p:nvSpPr>
        <p:spPr>
          <a:xfrm>
            <a:off x="9656064" y="4645152"/>
            <a:ext cx="1947672" cy="1234440"/>
          </a:xfrm>
          <a:prstGeom prst="roundRect">
            <a:avLst>
              <a:gd name="adj" fmla="val 6667"/>
            </a:avLst>
          </a:prstGeom>
          <a:solidFill>
            <a:srgbClr val="0B1B2E"/>
          </a:solidFill>
          <a:ln/>
        </p:spPr>
      </p:sp>
      <p:sp>
        <p:nvSpPr>
          <p:cNvPr id="56" name="Text 52"/>
          <p:cNvSpPr/>
          <p:nvPr/>
        </p:nvSpPr>
        <p:spPr>
          <a:xfrm>
            <a:off x="9802368" y="47731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850" dirty="0"/>
          </a:p>
        </p:txBody>
      </p:sp>
      <p:sp>
        <p:nvSpPr>
          <p:cNvPr id="57" name="Text 53"/>
          <p:cNvSpPr/>
          <p:nvPr/>
        </p:nvSpPr>
        <p:spPr>
          <a:xfrm>
            <a:off x="9802368" y="50109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Prediction data</a:t>
            </a:r>
            <a:endParaRPr lang="en-US" sz="1250" dirty="0"/>
          </a:p>
        </p:txBody>
      </p:sp>
      <p:sp>
        <p:nvSpPr>
          <p:cNvPr id="58" name="Text 54"/>
          <p:cNvSpPr/>
          <p:nvPr/>
        </p:nvSpPr>
        <p:spPr>
          <a:xfrm>
            <a:off x="9802368" y="5486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RMSE</a:t>
            </a:r>
            <a:endParaRPr lang="en-US" sz="950" dirty="0"/>
          </a:p>
        </p:txBody>
      </p:sp>
      <p:sp>
        <p:nvSpPr>
          <p:cNvPr id="59" name="Text 55"/>
          <p:cNvSpPr/>
          <p:nvPr/>
        </p:nvSpPr>
        <p:spPr>
          <a:xfrm>
            <a:off x="566928" y="61447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context: external entities (website user, company admin, data source, end-user analyst) exchange data with the two systems; Level 1 above decomposes each into its sub-processes and data stores.</a:t>
            </a:r>
            <a:endParaRPr lang="en-US" sz="1100" dirty="0"/>
          </a:p>
        </p:txBody>
      </p:sp>
      <p:sp>
        <p:nvSpPr>
          <p:cNvPr id="60" name="Text 56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61" name="Text 57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 AND DISCUSSIONS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Corporate Website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digital platform for an industrial automation business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56816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" y="189280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across desktop, tablet and mobile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23744"/>
            <a:ext cx="173736" cy="1737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9536" y="2459736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service architecture — PLC, SCADA, panels, instrumentation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90672"/>
            <a:ext cx="173736" cy="1737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9536" y="3026664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metadata and semantic markup for search visibility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57600"/>
            <a:ext cx="173736" cy="1737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9536" y="3593592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assets giving fast first paint and smooth navigation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224528"/>
            <a:ext cx="173736" cy="17373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9536" y="4160520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capture flow connecting visitors to the sales team</a:t>
            </a:r>
            <a:endParaRPr lang="en-US" sz="12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91456"/>
            <a:ext cx="173736" cy="17373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59536" y="4727448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verified using Chrome developer tools</a:t>
            </a:r>
            <a:endParaRPr lang="en-US" sz="1250" dirty="0"/>
          </a:p>
        </p:txBody>
      </p:sp>
      <p:sp>
        <p:nvSpPr>
          <p:cNvPr id="17" name="Shape 9"/>
          <p:cNvSpPr/>
          <p:nvPr/>
        </p:nvSpPr>
        <p:spPr>
          <a:xfrm>
            <a:off x="566928" y="544068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/>
        </p:spPr>
      </p:sp>
      <p:sp>
        <p:nvSpPr>
          <p:cNvPr id="18" name="Text 10"/>
          <p:cNvSpPr/>
          <p:nvPr/>
        </p:nvSpPr>
        <p:spPr>
          <a:xfrm>
            <a:off x="566928" y="550468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1"/>
          <p:cNvSpPr/>
          <p:nvPr/>
        </p:nvSpPr>
        <p:spPr>
          <a:xfrm>
            <a:off x="566928" y="58704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2322576" y="544068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/>
        </p:spPr>
      </p:sp>
      <p:sp>
        <p:nvSpPr>
          <p:cNvPr id="21" name="Text 13"/>
          <p:cNvSpPr/>
          <p:nvPr/>
        </p:nvSpPr>
        <p:spPr>
          <a:xfrm>
            <a:off x="2322576" y="550468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22" name="Text 14"/>
          <p:cNvSpPr/>
          <p:nvPr/>
        </p:nvSpPr>
        <p:spPr>
          <a:xfrm>
            <a:off x="2322576" y="58704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4078224" y="544068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/>
        </p:spPr>
      </p:sp>
      <p:sp>
        <p:nvSpPr>
          <p:cNvPr id="24" name="Text 16"/>
          <p:cNvSpPr/>
          <p:nvPr/>
        </p:nvSpPr>
        <p:spPr>
          <a:xfrm>
            <a:off x="4078224" y="550468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5" name="Text 17"/>
          <p:cNvSpPr/>
          <p:nvPr/>
        </p:nvSpPr>
        <p:spPr>
          <a:xfrm>
            <a:off x="4078224" y="58704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126480" y="187452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B1B2E"/>
          </a:solidFill>
          <a:ln/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382512" y="2075688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8" name="Shape 20"/>
          <p:cNvSpPr/>
          <p:nvPr/>
        </p:nvSpPr>
        <p:spPr>
          <a:xfrm>
            <a:off x="6601968" y="2075688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9" name="Shape 21"/>
          <p:cNvSpPr/>
          <p:nvPr/>
        </p:nvSpPr>
        <p:spPr>
          <a:xfrm>
            <a:off x="6821424" y="2075688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0" name="Shape 22"/>
          <p:cNvSpPr/>
          <p:nvPr/>
        </p:nvSpPr>
        <p:spPr>
          <a:xfrm>
            <a:off x="7269480" y="2020824"/>
            <a:ext cx="3108960" cy="237744"/>
          </a:xfrm>
          <a:prstGeom prst="roundRect">
            <a:avLst>
              <a:gd name="adj" fmla="val 19231"/>
            </a:avLst>
          </a:prstGeom>
          <a:solidFill>
            <a:srgbClr val="1B3C60"/>
          </a:solidFill>
          <a:ln/>
        </p:spPr>
      </p:sp>
      <p:sp>
        <p:nvSpPr>
          <p:cNvPr id="31" name="Text 23"/>
          <p:cNvSpPr/>
          <p:nvPr/>
        </p:nvSpPr>
        <p:spPr>
          <a:xfrm>
            <a:off x="7360920" y="20208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www.startbrett.com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6510528" y="26517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SMART INDUSTRIAL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6510528" y="289864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Solutions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6510528" y="33924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programming · SCADA systems · control panels · instrumentation — delivered as turnkey projects across India.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510528" y="395935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0066FF"/>
          </a:solidFill>
          <a:ln/>
        </p:spPr>
      </p:sp>
      <p:sp>
        <p:nvSpPr>
          <p:cNvPr id="36" name="Text 28"/>
          <p:cNvSpPr/>
          <p:nvPr/>
        </p:nvSpPr>
        <p:spPr>
          <a:xfrm>
            <a:off x="6510528" y="395935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quote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510528" y="4636008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12314F"/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4818888"/>
            <a:ext cx="292608" cy="29260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510528" y="5166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7726680" y="4636008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12314F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016" y="4818888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726680" y="5166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</a:t>
            </a:r>
            <a:endParaRPr lang="en-US" sz="950" dirty="0"/>
          </a:p>
        </p:txBody>
      </p:sp>
      <p:sp>
        <p:nvSpPr>
          <p:cNvPr id="43" name="Shape 33"/>
          <p:cNvSpPr/>
          <p:nvPr/>
        </p:nvSpPr>
        <p:spPr>
          <a:xfrm>
            <a:off x="8942832" y="4636008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12314F"/>
          </a:solidFill>
          <a:ln/>
        </p:spPr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4818888"/>
            <a:ext cx="292608" cy="29260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8942832" y="5166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</a:t>
            </a:r>
            <a:endParaRPr lang="en-US" sz="950" dirty="0"/>
          </a:p>
        </p:txBody>
      </p:sp>
      <p:sp>
        <p:nvSpPr>
          <p:cNvPr id="46" name="Shape 35"/>
          <p:cNvSpPr/>
          <p:nvPr/>
        </p:nvSpPr>
        <p:spPr>
          <a:xfrm>
            <a:off x="10158984" y="4636008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12314F"/>
          </a:solidFill>
          <a:ln/>
        </p:spPr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1320" y="4818888"/>
            <a:ext cx="292608" cy="292608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10158984" y="5166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950" dirty="0"/>
          </a:p>
        </p:txBody>
      </p:sp>
      <p:sp>
        <p:nvSpPr>
          <p:cNvPr id="49" name="Text 37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50" name="Text 38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 AND DISCUSSIONS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Accuracy — RMSE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RMSE % on Dataset 1 (six C&amp;I customer portfolios) — lower is better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91640"/>
          <a:ext cx="75895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783080"/>
            <a:ext cx="3401568" cy="1280160"/>
          </a:xfrm>
          <a:prstGeom prst="roundRect">
            <a:avLst>
              <a:gd name="adj" fmla="val 7143"/>
            </a:avLst>
          </a:prstGeom>
          <a:solidFill>
            <a:srgbClr val="0B1B2E"/>
          </a:solidFill>
          <a:ln/>
        </p:spPr>
      </p:sp>
      <p:sp>
        <p:nvSpPr>
          <p:cNvPr id="7" name="Shape 4"/>
          <p:cNvSpPr/>
          <p:nvPr/>
        </p:nvSpPr>
        <p:spPr>
          <a:xfrm>
            <a:off x="8467344" y="1984248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788" y="2107692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15984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lower error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485632" y="24963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NLR with temperature cuts overall RMSE from 17.88% to 2.87%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229600" y="3227832"/>
            <a:ext cx="3401568" cy="1280160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/>
        </p:spPr>
      </p:sp>
      <p:sp>
        <p:nvSpPr>
          <p:cNvPr id="12" name="Shape 8"/>
          <p:cNvSpPr/>
          <p:nvPr/>
        </p:nvSpPr>
        <p:spPr>
          <a:xfrm>
            <a:off x="8467344" y="34290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788" y="355244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15984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interpretable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485632" y="39410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can be read and explained — no black-box behaviour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229600" y="4672584"/>
            <a:ext cx="3401568" cy="1280160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/>
        </p:spPr>
      </p:sp>
      <p:sp>
        <p:nvSpPr>
          <p:cNvPr id="17" name="Shape 12"/>
          <p:cNvSpPr/>
          <p:nvPr/>
        </p:nvSpPr>
        <p:spPr>
          <a:xfrm>
            <a:off x="8467344" y="48737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0788" y="499719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15984" y="4901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helps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485632" y="53858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maximum daily temperature improves the polynomial model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566928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 in forecasting error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3383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polynomial regression predictor with ambient temperature reduced overall RMSE from the market baseline of 17.88% to 2.87% — while remaining simple enough for an engineer to read, explain and audit.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12314F"/>
          </a:solidFill>
          <a:ln/>
        </p:spPr>
      </p:sp>
      <p:sp>
        <p:nvSpPr>
          <p:cNvPr id="7" name="Text 5"/>
          <p:cNvSpPr/>
          <p:nvPr/>
        </p:nvSpPr>
        <p:spPr>
          <a:xfrm>
            <a:off x="6565392" y="17099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17.88%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65392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RMSE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65392" y="26791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industry baseline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052560" y="141732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12314F"/>
          </a:solidFill>
          <a:ln/>
        </p:spPr>
      </p:sp>
      <p:sp>
        <p:nvSpPr>
          <p:cNvPr id="11" name="Text 9"/>
          <p:cNvSpPr/>
          <p:nvPr/>
        </p:nvSpPr>
        <p:spPr>
          <a:xfrm>
            <a:off x="9308592" y="17099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308592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08592" y="26791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predictor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356616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38587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2.87%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65392" y="4553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+ temp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65392" y="48280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3566160"/>
            <a:ext cx="2514600" cy="1874520"/>
          </a:xfrm>
          <a:prstGeom prst="roundRect">
            <a:avLst>
              <a:gd name="adj" fmla="val 4878"/>
            </a:avLst>
          </a:prstGeom>
          <a:solidFill>
            <a:srgbClr val="12314F"/>
          </a:solidFill>
          <a:ln/>
        </p:spPr>
      </p:sp>
      <p:sp>
        <p:nvSpPr>
          <p:cNvPr id="19" name="Text 17"/>
          <p:cNvSpPr/>
          <p:nvPr/>
        </p:nvSpPr>
        <p:spPr>
          <a:xfrm>
            <a:off x="9308592" y="38587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308592" y="4553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C&amp;I portfolios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08592" y="48280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Chemical, telecom, water, university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6035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overall RMSE comparison, Dataset 1 — Kamoona et al., Energy Reports 9 (2023) 171–176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94415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 AND DISCUSSIONS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 vs Model 2 — Dataset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framing of the input window change forecast quality?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EEF3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historical time stamps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same time stamp on previous days (e.g. yesterday's 10:00 to predict today's 10:00), optionally adding exogenous factors.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conventional baseline method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continuity between adjacent readings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RMSE across every window setting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0488" y="178308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0B1B2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Preceding time stamps (TW)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readings immediately before the target (07:00–09:30 to predict 10:00), respecting the continuity of the series.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37960" y="3520440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short-term dependency in the series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result: NLR-DemandTemp at TW = 10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outperforms Model 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521208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consumption only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88536" y="521208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44568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DemandTemp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44568" y="5623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+ ambient temperature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10144" y="521208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66176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DemandTempOthers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66176" y="5623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precipitation &amp; solar radiation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ON-FIELD DOCUMENTATION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Geo-tagged Field Photographs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site — Kasarwadi, Pimpri-Chinchwad, Pune 411034  ·  30 July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71804" y="1691640"/>
            <a:ext cx="3008376" cy="4709160"/>
          </a:xfrm>
          <a:prstGeom prst="roundRect">
            <a:avLst>
              <a:gd name="adj" fmla="val 3647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pic>
        <p:nvPicPr>
          <p:cNvPr id="6" name="Image 0" descr="/home/claude/deck/photos/p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532" y="1801368"/>
            <a:ext cx="2788920" cy="3718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8108" y="5629656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internship premises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18108" y="5903976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914, 447/70 Nashik Phata Rd, Shastri Nagar  ·  18.6059° N, 73.8230° E  ·  07:31 PM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91660" y="1691640"/>
            <a:ext cx="3008376" cy="4709160"/>
          </a:xfrm>
          <a:prstGeom prst="roundRect">
            <a:avLst>
              <a:gd name="adj" fmla="val 3647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pic>
        <p:nvPicPr>
          <p:cNvPr id="10" name="Image 1" descr="/home/claude/deck/photos/p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388" y="1801368"/>
            <a:ext cx="2788920" cy="3718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37964" y="5629656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corporate website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737964" y="5903976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 operator panel page under development  ·  18.6107° N, 73.8205° E  ·  07:43 PM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011516" y="1691640"/>
            <a:ext cx="3008376" cy="4709160"/>
          </a:xfrm>
          <a:prstGeom prst="roundRect">
            <a:avLst>
              <a:gd name="adj" fmla="val 3647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pic>
        <p:nvPicPr>
          <p:cNvPr id="14" name="Image 2" descr="/home/claude/deck/photos/p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244" y="1801368"/>
            <a:ext cx="2788920" cy="37185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7820" y="5629656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workstation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57820" y="5903976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and build environment at the internship desk  ·  18.6107° N, 73.8205° E  ·  07:44 PM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CONCLUSIONS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added beyond the deliverables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84832"/>
            <a:ext cx="585216" cy="585216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224485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7980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2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346704"/>
            <a:ext cx="173736" cy="1737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282696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engineering with HTML5, CSS3 and JavaScript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913632"/>
            <a:ext cx="173736" cy="1737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849624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and cross-browser design practice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480560"/>
            <a:ext cx="173736" cy="17373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441655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data-science stack in a real workflow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047488"/>
            <a:ext cx="173736" cy="1737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498348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structured debugging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4379976" y="178308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EEF3FA"/>
          </a:solidFill>
          <a:ln/>
        </p:spPr>
      </p:sp>
      <p:sp>
        <p:nvSpPr>
          <p:cNvPr id="18" name="Shape 11"/>
          <p:cNvSpPr/>
          <p:nvPr/>
        </p:nvSpPr>
        <p:spPr>
          <a:xfrm>
            <a:off x="4709160" y="208483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180" y="2244852"/>
            <a:ext cx="265176" cy="26517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709160" y="27980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</a:t>
            </a:r>
            <a:endParaRPr lang="en-US" sz="20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346704"/>
            <a:ext cx="173736" cy="17373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01768" y="3282696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an industrial problem as a prediction task</a:t>
            </a:r>
            <a:endParaRPr lang="en-US" sz="12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913632"/>
            <a:ext cx="173736" cy="17373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01768" y="3849624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feature selection and windowing</a:t>
            </a:r>
            <a:endParaRPr lang="en-US" sz="12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480560"/>
            <a:ext cx="173736" cy="17373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01768" y="441655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with an objective metric</a:t>
            </a:r>
            <a:endParaRPr lang="en-US" sz="12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5047488"/>
            <a:ext cx="173736" cy="173736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001768" y="498348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reproducing a research paper</a:t>
            </a:r>
            <a:endParaRPr lang="en-US" sz="1250" dirty="0"/>
          </a:p>
        </p:txBody>
      </p:sp>
      <p:sp>
        <p:nvSpPr>
          <p:cNvPr id="29" name="Shape 17"/>
          <p:cNvSpPr/>
          <p:nvPr/>
        </p:nvSpPr>
        <p:spPr>
          <a:xfrm>
            <a:off x="8193024" y="178308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  <a:effectLst>
            <a:outerShdw blurRad="127000" dist="25400" dir="5400000" algn="bl" rotWithShape="0">
              <a:srgbClr val="8FA6C0">
                <a:alpha val="35000"/>
              </a:srgbClr>
            </a:outerShdw>
          </a:effectLst>
        </p:spPr>
      </p:sp>
      <p:sp>
        <p:nvSpPr>
          <p:cNvPr id="30" name="Shape 18"/>
          <p:cNvSpPr/>
          <p:nvPr/>
        </p:nvSpPr>
        <p:spPr>
          <a:xfrm>
            <a:off x="8522208" y="2084832"/>
            <a:ext cx="585216" cy="585216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2228" y="2244852"/>
            <a:ext cx="265176" cy="265176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8522208" y="27980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</a:t>
            </a:r>
            <a:endParaRPr lang="en-US" sz="20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3346704"/>
            <a:ext cx="173736" cy="173736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8814816" y="3282696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discussion with a mentor and team</a:t>
            </a:r>
            <a:endParaRPr lang="en-US" sz="125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3913632"/>
            <a:ext cx="173736" cy="173736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8814816" y="3849624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reporting discipline</a:t>
            </a:r>
            <a:endParaRPr lang="en-US" sz="125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4480560"/>
            <a:ext cx="173736" cy="173736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8814816" y="441655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deadlines across parallel projects</a:t>
            </a:r>
            <a:endParaRPr lang="en-US" sz="125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5047488"/>
            <a:ext cx="173736" cy="173736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8814816" y="498348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ethics, ownership and confidentiality</a:t>
            </a:r>
            <a:endParaRPr lang="en-US" sz="1250" dirty="0"/>
          </a:p>
        </p:txBody>
      </p:sp>
      <p:sp>
        <p:nvSpPr>
          <p:cNvPr id="41" name="Text 24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42" name="Text 25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CONCLUSIONS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1064240" cy="1115568"/>
          </a:xfrm>
          <a:prstGeom prst="roundRect">
            <a:avLst>
              <a:gd name="adj" fmla="val 8197"/>
            </a:avLst>
          </a:prstGeom>
          <a:solidFill>
            <a:srgbClr val="12314F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22199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55648" y="214884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deliverables met their 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55648" y="247802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responsive, SEO-ready corporate website was deployed for StartBrett Private Limited, and an interpretable forecasting model was implemented and validated.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264408"/>
            <a:ext cx="11064240" cy="1115568"/>
          </a:xfrm>
          <a:prstGeom prst="roundRect">
            <a:avLst>
              <a:gd name="adj" fmla="val 8197"/>
            </a:avLst>
          </a:prstGeom>
          <a:solidFill>
            <a:srgbClr val="12314F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35204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55648" y="34472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models can beat complex baselines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55648" y="377647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with ambient temperature reduced overall RMSE to 2.87% against a 17.88% baseline, without sacrificing explainability.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562856"/>
            <a:ext cx="11064240" cy="1115568"/>
          </a:xfrm>
          <a:prstGeom prst="roundRect">
            <a:avLst>
              <a:gd name="adj" fmla="val 8197"/>
            </a:avLst>
          </a:prstGeom>
          <a:solidFill>
            <a:srgbClr val="12314F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481888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55648" y="4745736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became practice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55648" y="507492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connected coursework in web technologies, data structures and machine learning to a real industrial workflow, from requirement to deployment.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5897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incorporate larger datasets, richer weather features and tariff-based cost modelling to quantify the monetary benefit of improved forecasts.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94415" y="5897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REFERENCES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and sources consulted during the internship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53312" y="17830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Kamoona, A., Song, H., Keshavarzian, K., Levy, K., Jalili, M., Wilkinson, R., Yu, X., McGrath, B. &amp; Meegahapola, L. (2023).  </a:t>
            </a: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based energy demand prediction. Energy Reports, 9, 171–176.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5420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420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25420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Suganthi, L. &amp; Samuel, A. A. (2012).  </a:t>
            </a: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models for demand forecasting — a review. Renewable and Sustainable Energy Reviews, 16(2), 1223–1240.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30098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009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53312" y="33009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Mahia, F., Dey, A. R., Masud, M. A. &amp; Mahmud, M. S. (2019).  </a:t>
            </a: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electricity consumption using ARIMA model. IEEE International Conference on Sustainable Technologies for Industry 4.0.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0599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5993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53312" y="405993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Y., Chen, W., Xu, R. &amp; Black, J. (2016).  </a:t>
            </a: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cluster-based method for calculating baselines for residential loads. IEEE Transactions on Smart Grid, 7(5), 2368–2377.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81888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188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53312" y="48188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Xia, M., Shao, H., Ma, X. &amp; de Silva, C. W. (2021).  </a:t>
            </a: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stacked GRU-RNN-based approach for predicting renewable energy and electricity load for smart grid operation. IEEE Transactions on Industrial Informatics, 17(10), 7050–7059.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5778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B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5778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353312" y="55778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Krishnadas, G. &amp; Kiprakis, A. (2020).  </a:t>
            </a: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pipeline for demand response capacity scheduling. Energies, 13(7).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1325880"/>
            <a:ext cx="4206240" cy="4206240"/>
          </a:xfrm>
          <a:prstGeom prst="ellipse">
            <a:avLst/>
          </a:prstGeom>
          <a:ln w="12700">
            <a:solidFill>
              <a:srgbClr val="173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0" y="1874520"/>
            <a:ext cx="3108960" cy="3108960"/>
          </a:xfrm>
          <a:prstGeom prst="ellipse">
            <a:avLst/>
          </a:prstGeom>
          <a:ln w="12700">
            <a:solidFill>
              <a:srgbClr val="173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2423160"/>
            <a:ext cx="2011680" cy="2011680"/>
          </a:xfrm>
          <a:prstGeom prst="ellipse">
            <a:avLst/>
          </a:prstGeom>
          <a:ln w="19050">
            <a:solidFill>
              <a:srgbClr val="1F4E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24912" y="2862072"/>
            <a:ext cx="1133856" cy="1133856"/>
          </a:xfrm>
          <a:prstGeom prst="ellipse">
            <a:avLst/>
          </a:prstGeom>
          <a:solidFill>
            <a:srgbClr val="12314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944" y="3118104"/>
            <a:ext cx="621792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2331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30936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09360" y="38862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12314F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4069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Ashok Pande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0" y="4389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 20240802208  ·  B.Tech. CSE (AI–ML)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Y Patil International University, Akurdi, Pune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5532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at StartBrett Private Limited  ·  Academic Year 2025–26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77095" y="6309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31/07/2026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094415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3250</Words>
  <Application>Microsoft Macintosh PowerPoint</Application>
  <PresentationFormat>Widescreen</PresentationFormat>
  <Paragraphs>499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StartBrett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Internship — StartBrett Private Limited</dc:title>
  <dc:subject>PptxGenJS Presentation</dc:subject>
  <dc:creator>Pranav Ashok Pande</dc:creator>
  <cp:lastModifiedBy>Pranav Pande</cp:lastModifiedBy>
  <cp:revision>3</cp:revision>
  <dcterms:created xsi:type="dcterms:W3CDTF">2026-07-31T03:57:16Z</dcterms:created>
  <dcterms:modified xsi:type="dcterms:W3CDTF">2026-08-03T06:10:49Z</dcterms:modified>
</cp:coreProperties>
</file>